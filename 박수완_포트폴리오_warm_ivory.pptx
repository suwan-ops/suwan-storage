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1F3BE0"/>
          </a:solidFill>
          <a:ln w="12700">
            <a:solidFill>
              <a:srgbClr val="1F3B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3200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 rot="16200000">
            <a:off x="-1097280" y="3108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PORTFOLIO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6172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박수완 / SUWAN PARK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0" y="411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325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방위산업 사업운영 &amp; 방산원가 관리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입증하고</a:t>
            </a:r>
            <a:endParaRPr lang="en-US" sz="3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원가로 완성합니다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1234440" y="3200400"/>
            <a:ext cx="822960" cy="73152"/>
          </a:xfrm>
          <a:prstGeom prst="rect">
            <a:avLst/>
          </a:prstGeom>
          <a:solidFill>
            <a:srgbClr val="11131A"/>
          </a:solidFill>
          <a:ln w="12700">
            <a:solidFill>
              <a:srgbClr val="1113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47472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국방원가관리사 기반의 법정 원가 규정 이해와 ERP·BOM 데이터 분석 역량을 결합하여, 방산 획득 및 양산 사업의 수익성을 적시에 지켜내는 사업운영 담당자 박수완입니다.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35240" y="1325880"/>
            <a:ext cx="4069080" cy="2194560"/>
          </a:xfrm>
          <a:prstGeom prst="rect">
            <a:avLst/>
          </a:prstGeom>
          <a:solidFill>
            <a:srgbClr val="E4DFD2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1508760"/>
            <a:ext cx="4069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👤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사진 영역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(추후 등록 가능)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35240" y="3703320"/>
            <a:ext cx="1261872" cy="1234440"/>
          </a:xfrm>
          <a:prstGeom prst="rect">
            <a:avLst/>
          </a:prstGeom>
          <a:solidFill>
            <a:srgbClr val="11131A"/>
          </a:solidFill>
          <a:ln w="12700">
            <a:solidFill>
              <a:srgbClr val="1113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3840480"/>
            <a:ext cx="1261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방산원가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국방원가 1차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34272" y="3703320"/>
            <a:ext cx="1261872" cy="1234440"/>
          </a:xfrm>
          <a:prstGeom prst="rect">
            <a:avLst/>
          </a:prstGeom>
          <a:solidFill>
            <a:srgbClr val="1F3BE0"/>
          </a:solidFill>
          <a:ln w="12700">
            <a:solidFill>
              <a:srgbClr val="1F3B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4272" y="3840480"/>
            <a:ext cx="1261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생산정보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생산 1급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433304" y="3703320"/>
            <a:ext cx="1261872" cy="1234440"/>
          </a:xfrm>
          <a:prstGeom prst="rect">
            <a:avLst/>
          </a:prstGeom>
          <a:solidFill>
            <a:srgbClr val="E4DFD2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33304" y="3840480"/>
            <a:ext cx="1261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빅데이터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재무빅데이터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234440" y="5349240"/>
            <a:ext cx="10469880" cy="0"/>
          </a:xfrm>
          <a:prstGeom prst="line">
            <a:avLst/>
          </a:prstGeom>
          <a:noFill/>
          <a:ln w="25400">
            <a:solidFill>
              <a:srgbClr val="1113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5486400"/>
            <a:ext cx="24345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E-MAIL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234440" y="5715000"/>
            <a:ext cx="2434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suw******@gmail.com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51910" y="5486400"/>
            <a:ext cx="24345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51910" y="5715000"/>
            <a:ext cx="2434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010-****-6386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69380" y="5486400"/>
            <a:ext cx="24345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EDUCATION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69380" y="5715000"/>
            <a:ext cx="2434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창원대 경영학 학사 (3.5)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086850" y="5486400"/>
            <a:ext cx="24345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086850" y="5715000"/>
            <a:ext cx="2434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방산 사업관리 · 원가기획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1F3BE0"/>
          </a:solidFill>
          <a:ln w="12700">
            <a:solidFill>
              <a:srgbClr val="1F3B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3200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 rot="16200000">
            <a:off x="-1097280" y="3108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6172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320040"/>
            <a:ext cx="10469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548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78040" y="6217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방위산업 사업운영 핵심 포트폴리오 요약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1051560"/>
            <a:ext cx="10469880" cy="0"/>
          </a:xfrm>
          <a:prstGeom prst="line">
            <a:avLst/>
          </a:prstGeom>
          <a:noFill/>
          <a:ln w="19050">
            <a:solidFill>
              <a:srgbClr val="1113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6355080"/>
            <a:ext cx="10469880" cy="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박수완 · 방위산업 사업운영 포트폴리오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34440" y="1417320"/>
            <a:ext cx="5074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86000" y="16459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인적사항 및 핵심 역량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286000" y="205740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방산원가·ERP 생산·데이터 분석 기반의 강점 요약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1417320"/>
            <a:ext cx="5074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680960" y="16459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학력 및 교육 타임라인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80960" y="205740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방위사업 전문인력 양성과정 및 대학 전공 이력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34440" y="2971800"/>
            <a:ext cx="5074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3246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286000" y="32004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방산 RFP 분석 및 입찰제안서 작성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86000" y="36118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요구조건 분해, 비목별 원가 배부, 30p 제안서 완수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29400" y="2971800"/>
            <a:ext cx="5074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3246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680960" y="32004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대학가 B2B 정기 공급망 구축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680960" y="36118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하나로마트 현장 인터뷰, 단가 12% 절감, 3개 학과 확대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234440" y="4526280"/>
            <a:ext cx="5074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63040" y="4800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286000" y="47548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원가·수익성 관리 지표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286000" y="516636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BOM-원가 연계, 비목별 계산 규정, 정합성 검증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29400" y="4526280"/>
            <a:ext cx="5074920" cy="1325880"/>
          </a:xfrm>
          <a:prstGeom prst="rect">
            <a:avLst/>
          </a:prstGeom>
          <a:solidFill>
            <a:srgbClr val="11131A"/>
          </a:solidFill>
          <a:ln w="12700">
            <a:solidFill>
              <a:srgbClr val="1113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4800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680960" y="47548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 현황 및 입사 후 비전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680960" y="516636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국방원가·ERP 1급·재무빅데이터 공인 자격증 및 비전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1F3BE0"/>
          </a:solidFill>
          <a:ln w="12700">
            <a:solidFill>
              <a:srgbClr val="1F3B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3200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 rot="16200000">
            <a:off x="-1097280" y="3108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6172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320040"/>
            <a:ext cx="10469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CAREER &amp; EDUCATION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548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경력 및 교육 타임라인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78040" y="6217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방산 전문성 축적과 실무 역량 고도화 과정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1051560"/>
            <a:ext cx="10469880" cy="0"/>
          </a:xfrm>
          <a:prstGeom prst="line">
            <a:avLst/>
          </a:prstGeom>
          <a:noFill/>
          <a:ln w="19050">
            <a:solidFill>
              <a:srgbClr val="1113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6355080"/>
            <a:ext cx="10469880" cy="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박수완 · 방위산업 사업운영 포트폴리오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34440" y="1463040"/>
            <a:ext cx="10469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 — 2026.08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4개월 · 전문교육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11880" y="1691640"/>
            <a:ext cx="0" cy="86868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16916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방위사업 전문인력 양성사업 (방위사업청 주관)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886200" y="20574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방위력개선사업 절차 및 방산기업 사업구조 학습, 모의 RFP 분석을 통한 입찰제안서 작성 및 피드백 수정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921240" y="1920240"/>
            <a:ext cx="1508760" cy="411480"/>
          </a:xfrm>
          <a:prstGeom prst="rect">
            <a:avLst/>
          </a:prstGeom>
          <a:solidFill>
            <a:srgbClr val="1F3BE0"/>
          </a:solidFill>
          <a:ln w="12700">
            <a:solidFill>
              <a:srgbClr val="1113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21240" y="1920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제안서 30p 완수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234440" y="3017520"/>
            <a:ext cx="10469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 — 2026.10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5개월 · 사회활동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11880" y="3246120"/>
            <a:ext cx="0" cy="86868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32461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김해시 청년정책 제안서 기획 (글로컬청년대학)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886200" y="361188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청년 현안 데이터 조사·분석, 요구사항 구조화 및 실현 가능성을 고려한 정책 대안 설계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921240" y="3474720"/>
            <a:ext cx="1508760" cy="411480"/>
          </a:xfrm>
          <a:prstGeom prst="rect">
            <a:avLst/>
          </a:prstGeom>
          <a:solidFill>
            <a:srgbClr val="11131A"/>
          </a:solidFill>
          <a:ln w="12700">
            <a:solidFill>
              <a:srgbClr val="1113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21240" y="34747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제안 채택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234440" y="4572000"/>
            <a:ext cx="10469880" cy="1325880"/>
          </a:xfrm>
          <a:prstGeom prst="rect">
            <a:avLst/>
          </a:prstGeom>
          <a:solidFill>
            <a:srgbClr val="E4DFD2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08760" y="4846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2017.03 — 2024.09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08760" y="5166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4년제 학사 졸업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11880" y="4800600"/>
            <a:ext cx="0" cy="86868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86200" y="48006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창원대학교 경영학과 졸업 (3.5 / 4.5)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3886200" y="51663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재무회계·원가회계·생산관리 이수를 통해 제조기업의 원가와 생산 연결 구조 체득, 다수 프로젝트 팀장 역임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921240" y="5029200"/>
            <a:ext cx="1508760" cy="411480"/>
          </a:xfrm>
          <a:prstGeom prst="rect">
            <a:avLst/>
          </a:prstGeom>
          <a:solidFill>
            <a:srgbClr val="E4DFD2"/>
          </a:solidFill>
          <a:ln w="12700">
            <a:solidFill>
              <a:srgbClr val="1113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21240" y="50292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경영학 학사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1F3BE0"/>
          </a:solidFill>
          <a:ln w="12700">
            <a:solidFill>
              <a:srgbClr val="1F3B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3200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 rot="16200000">
            <a:off x="-1097280" y="3108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6172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320040"/>
            <a:ext cx="10469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DEFENSE PROPOSAL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548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방산 RFP 분석 및 모의 입찰제안서 작성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78040" y="6217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방위사업 전문인력 양성사업 · 팀 프로젝트 (팀장 / 기여도 60%)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1051560"/>
            <a:ext cx="10469880" cy="0"/>
          </a:xfrm>
          <a:prstGeom prst="line">
            <a:avLst/>
          </a:prstGeom>
          <a:noFill/>
          <a:ln w="19050">
            <a:solidFill>
              <a:srgbClr val="1113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6355080"/>
            <a:ext cx="10469880" cy="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박수완 · 방위산업 사업운영 포트폴리오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34440" y="1371600"/>
            <a:ext cx="6217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146304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Problem &amp; Challenge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63040" y="173736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방위사업청의 요구규격서(RFP)는 까다로운 국방 규격과 엄격한 법정 원가 계산 기준을 요구하여, 요구사항 누락이나 비목별 배부 근거 왜곡 시 심사 감점 리스크가 컸습니다.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234440" y="2788920"/>
            <a:ext cx="6217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28803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Solution &amp; Execution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63040" y="315468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RFP 항목 분해: 필수 및 우대 요구조건을 32개 체크리스트로 구조화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방산원가 계산 규정 연계: 노무비, 재료비, 간접경비의 법정 배부 기준에 맞춘 견적 산출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피드백 반영: 모의 평가 위원의 지적사항을 즉시 반영하여 기술 및 가격 제안서 최종 보완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234440" y="4846320"/>
            <a:ext cx="6217920" cy="1234440"/>
          </a:xfrm>
          <a:prstGeom prst="rect">
            <a:avLst/>
          </a:prstGeom>
          <a:solidFill>
            <a:srgbClr val="E4DFD2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49377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Result &amp; Takeaway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63040" y="5193792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30페이지 분량의 규격 충족 제안서 완성 및 모의 제안 평가 통과. 방산 사업 수주 및 견적 검증의 실무 흐름을 완벽히 체화했습니다.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26680" y="1371600"/>
            <a:ext cx="3977640" cy="3337560"/>
          </a:xfrm>
          <a:prstGeom prst="rect">
            <a:avLst/>
          </a:prstGeom>
          <a:solidFill>
            <a:srgbClr val="E4DFD2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2103120"/>
            <a:ext cx="3977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📄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제안서 표지 및 요약표 스크린샷 영역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(실제 제안서 캡처 이미지 등록)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26680" y="4846320"/>
            <a:ext cx="1897380" cy="1234440"/>
          </a:xfrm>
          <a:prstGeom prst="rect">
            <a:avLst/>
          </a:prstGeom>
          <a:solidFill>
            <a:srgbClr val="11131A"/>
          </a:solidFill>
          <a:ln w="12700">
            <a:solidFill>
              <a:srgbClr val="1113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6680" y="4919472"/>
            <a:ext cx="18973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요건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32개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RFP 체크리스트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806940" y="4846320"/>
            <a:ext cx="1897380" cy="1234440"/>
          </a:xfrm>
          <a:prstGeom prst="rect">
            <a:avLst/>
          </a:prstGeom>
          <a:solidFill>
            <a:srgbClr val="11131A"/>
          </a:solidFill>
          <a:ln w="12700">
            <a:solidFill>
              <a:srgbClr val="1113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06940" y="4919472"/>
            <a:ext cx="18973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분량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Pages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기술+원가 제안서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1F3BE0"/>
          </a:solidFill>
          <a:ln w="12700">
            <a:solidFill>
              <a:srgbClr val="1F3B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3200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 rot="16200000">
            <a:off x="-1097280" y="3108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6172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320040"/>
            <a:ext cx="10469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B2B SUPPLY CHAIN EXPANSION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548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대학가 B2B 정기 공급망 구축 프로젝트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78040" y="6217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창원대 지역상권 활성화 수행과제 · 프로젝트 리더 (기여도 70%)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1051560"/>
            <a:ext cx="10469880" cy="0"/>
          </a:xfrm>
          <a:prstGeom prst="line">
            <a:avLst/>
          </a:prstGeom>
          <a:noFill/>
          <a:ln w="19050">
            <a:solidFill>
              <a:srgbClr val="1113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6355080"/>
            <a:ext cx="10469880" cy="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박수완 · 방위산업 사업운영 포트폴리오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34440" y="1371600"/>
            <a:ext cx="6217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146304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Problem &amp; Insight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63040" y="173736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코로나 이후 학내 상권 위축으로 인근 하나로마트의 학생 매출이 급감. 인터뷰를 통해 B2C 소매 경쟁 대신 학내 단체 행사 B2B 식자재 정기 납품이라는 숨은 수요를 발굴했습니다.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234440" y="2788920"/>
            <a:ext cx="6217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28803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Solution &amp; Negotiation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63040" y="315468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단가 및 물류 협상: 대량 발주를 매개로 단가 12% 절감 및 무료 배송 조건 유치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공급 계약 정례화: 축제 1회성 조달을 MT, 새터, 체육대회 등 분기별 정기 계약으로 전환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공급선 확대: 경영학과 실적을 토대로 국제무역학과, 회계학과 학생회로 제휴 확장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234440" y="4846320"/>
            <a:ext cx="6217920" cy="1234440"/>
          </a:xfrm>
          <a:prstGeom prst="rect">
            <a:avLst/>
          </a:prstGeom>
          <a:solidFill>
            <a:srgbClr val="E4DFD2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49377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Impact &amp; Value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63040" y="5193792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단발성 거래를 3개 학과 정기 공급망으로 정착시켜 소상공인-학생회 윈윈 달성. 시장 변화를 읽고 안정적 파이프라인을 만드는 사업운영 감각을 입증했습니다.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26680" y="1371600"/>
            <a:ext cx="3977640" cy="3337560"/>
          </a:xfrm>
          <a:prstGeom prst="rect">
            <a:avLst/>
          </a:prstGeom>
          <a:solidFill>
            <a:srgbClr val="E4DFD2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2103120"/>
            <a:ext cx="3977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🛒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인터뷰 및 납품 진행 사진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(행사 납품 또는 인터뷰 사진 등록)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26680" y="4846320"/>
            <a:ext cx="18973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B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6680" y="4919472"/>
            <a:ext cx="18973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조달 단가 절감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-12%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대량 구매 협상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806940" y="4846320"/>
            <a:ext cx="18973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3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06940" y="4919472"/>
            <a:ext cx="18973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 대상 확대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학과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경영·무역·회계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1F3BE0"/>
          </a:solidFill>
          <a:ln w="12700">
            <a:solidFill>
              <a:srgbClr val="1F3B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3200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 rot="16200000">
            <a:off x="-1097280" y="3108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6172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320040"/>
            <a:ext cx="10469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POLICY PROPOSAL &amp; DATA ANALYSIS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548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김해시 청년정책 제안서 기획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78040" y="6217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김해시 주최 글로컬청년대학 · 사회활동 기획 (2026.06 ~ 2026.10)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1051560"/>
            <a:ext cx="10469880" cy="0"/>
          </a:xfrm>
          <a:prstGeom prst="line">
            <a:avLst/>
          </a:prstGeom>
          <a:noFill/>
          <a:ln w="19050">
            <a:solidFill>
              <a:srgbClr val="1113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6355080"/>
            <a:ext cx="10469880" cy="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박수완 · 방위산업 사업운영 포트폴리오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34440" y="1463040"/>
            <a:ext cx="3291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8760" y="1783080"/>
            <a:ext cx="1371600" cy="347472"/>
          </a:xfrm>
          <a:prstGeom prst="rect">
            <a:avLst/>
          </a:prstGeom>
          <a:solidFill>
            <a:srgbClr val="1F3BE0"/>
          </a:solidFill>
          <a:ln w="12700">
            <a:solidFill>
              <a:srgbClr val="1113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17830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현안 데이터 수집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2286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 실태 분석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08760" y="278892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청년 통계 및 설문 데이터를 분석하여, 일자리·주거·산업 등 복합 현안 중 즉시 해결이 필요한 우선순위 문제를 정의했습니다.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508760" y="5212080"/>
            <a:ext cx="2743200" cy="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5349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기법: 재무빅데이터 및 구조화 설문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18888" y="1463040"/>
            <a:ext cx="3291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93208" y="1783080"/>
            <a:ext cx="1371600" cy="347472"/>
          </a:xfrm>
          <a:prstGeom prst="rect">
            <a:avLst/>
          </a:prstGeom>
          <a:solidFill>
            <a:srgbClr val="11131A"/>
          </a:solidFill>
          <a:ln w="12700">
            <a:solidFill>
              <a:srgbClr val="1113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3208" y="17830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 설계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93208" y="2286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실현 가능성 모델링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093208" y="278892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 예산 제약 조건을 반영한 단계별 정책 실행 모델을 수립하고, 시 산하 유관기관과의 협업 체계를 설계했습니다.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93208" y="5212080"/>
            <a:ext cx="2743200" cy="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5349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결과물: 실행예산안 및 정책 제안서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403336" y="1463040"/>
            <a:ext cx="3291840" cy="4572000"/>
          </a:xfrm>
          <a:prstGeom prst="rect">
            <a:avLst/>
          </a:prstGeom>
          <a:solidFill>
            <a:srgbClr val="E4DFD2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77656" y="1783080"/>
            <a:ext cx="1371600" cy="347472"/>
          </a:xfrm>
          <a:prstGeom prst="rect">
            <a:avLst/>
          </a:prstGeom>
          <a:solidFill>
            <a:srgbClr val="E4DFD2"/>
          </a:solidFill>
          <a:ln w="12700">
            <a:solidFill>
              <a:srgbClr val="1113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77656" y="17830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77656" y="2286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정책적 타당성 검증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677656" y="278892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현장의 목소리와 정량적 통계를 결합하여 설득력 있는 보고서 도출. 복잡한 이해관계를 조율하는 기획 역량을 다졌습니다.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677656" y="5212080"/>
            <a:ext cx="2743200" cy="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77656" y="5349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사업 타당성 검토 및 보고서 기획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1F3BE0"/>
          </a:solidFill>
          <a:ln w="12700">
            <a:solidFill>
              <a:srgbClr val="1F3B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3200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 rot="16200000">
            <a:off x="-1097280" y="3108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METRICS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6172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320040"/>
            <a:ext cx="10469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BUSINESS OPERATIONS COMPETENCY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548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방산원가 및 데이터 분석 역량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78040" y="6217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방위산업 사업운영 맞춤형 4대 직무 역량 매트릭스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1051560"/>
            <a:ext cx="10469880" cy="0"/>
          </a:xfrm>
          <a:prstGeom prst="line">
            <a:avLst/>
          </a:prstGeom>
          <a:noFill/>
          <a:ln w="19050">
            <a:solidFill>
              <a:srgbClr val="1113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6355080"/>
            <a:ext cx="10469880" cy="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박수완 · 방위산업 사업운영 포트폴리오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34440" y="1463040"/>
            <a:ext cx="2423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1463040"/>
            <a:ext cx="2423160" cy="73152"/>
          </a:xfrm>
          <a:prstGeom prst="rect">
            <a:avLst/>
          </a:prstGeom>
          <a:solidFill>
            <a:srgbClr val="1F3BE0"/>
          </a:solidFill>
          <a:ln w="12700">
            <a:solidFill>
              <a:srgbClr val="1F3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16916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방산원가 규정 이해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417320" y="20574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국방원가관리사 1차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251460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‘방산원가대상물자의 원가계산에 관한 규칙’ 기반의 비목별(재료비·노무비·경비) 산정 공식 및 원가 배부 기준 숙지.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13632" y="1463040"/>
            <a:ext cx="2423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13632" y="1463040"/>
            <a:ext cx="2423160" cy="73152"/>
          </a:xfrm>
          <a:prstGeom prst="rect">
            <a:avLst/>
          </a:prstGeom>
          <a:solidFill>
            <a:srgbClr val="11131A"/>
          </a:solidFill>
          <a:ln w="12700">
            <a:solidFill>
              <a:srgbClr val="1113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96512" y="16916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생산 프로세스 &amp; BOM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096512" y="20574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생산 정보 1급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96512" y="251460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BOM(자재명세서) 구조화 및 Routing 공수 데이터를 연계하여 설계 변경 시 원가 변동률 사전 시뮬레이션 가능.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92824" y="1463040"/>
            <a:ext cx="2423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92824" y="1463040"/>
            <a:ext cx="2423160" cy="73152"/>
          </a:xfrm>
          <a:prstGeom prst="rect">
            <a:avLst/>
          </a:prstGeom>
          <a:solidFill>
            <a:srgbClr val="1F3BE0"/>
          </a:solidFill>
          <a:ln w="12700">
            <a:solidFill>
              <a:srgbClr val="1F3B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75704" y="16916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데이터 기반 의사결정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75704" y="20574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재무빅데이터분석사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75704" y="251460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재무제표와 제조원가명세서 데이터 시각화 및 이상치 탐지를 통해 현장 제조비용 누수 요인을 정량적으로 규명.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272016" y="1463040"/>
            <a:ext cx="2423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72016" y="1463040"/>
            <a:ext cx="2423160" cy="73152"/>
          </a:xfrm>
          <a:prstGeom prst="rect">
            <a:avLst/>
          </a:prstGeom>
          <a:solidFill>
            <a:srgbClr val="11131A"/>
          </a:solidFill>
          <a:ln w="12700">
            <a:solidFill>
              <a:srgbClr val="1113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54896" y="16916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사업제안 및 협상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454896" y="20574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입찰제안서 작성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454896" y="251460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방사청 및 체계업체 요구조건을 충족하는 기술·원가 제안서 기획 및 대내외 이해관계자 조율 경험.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234440" y="4800600"/>
            <a:ext cx="10469880" cy="1234440"/>
          </a:xfrm>
          <a:prstGeom prst="rect">
            <a:avLst/>
          </a:prstGeom>
          <a:solidFill>
            <a:srgbClr val="11131A"/>
          </a:solidFill>
          <a:ln w="12700">
            <a:solidFill>
              <a:srgbClr val="1113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08760" y="4983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DEFENSE INDUSTRY FIT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508760" y="5257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지상·항공·정밀유도 무기체계 부품 양산 및 방위력개선사업의 원가 리스크 선제 방어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921240" y="5212080"/>
            <a:ext cx="1508760" cy="411480"/>
          </a:xfrm>
          <a:prstGeom prst="rect">
            <a:avLst/>
          </a:prstGeom>
          <a:solidFill>
            <a:srgbClr val="1F3BE0"/>
          </a:solidFill>
          <a:ln w="12700">
            <a:solidFill>
              <a:srgbClr val="1F3B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21240" y="52120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수익성 수호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1F3BE0"/>
          </a:solidFill>
          <a:ln w="12700">
            <a:solidFill>
              <a:srgbClr val="1F3B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3200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 rot="16200000">
            <a:off x="-1097280" y="3108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SOLVING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6172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320040"/>
            <a:ext cx="10469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TROUBLESHOOTING &amp; ALIGNMENT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548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갈등 조율 및 마감 병목 극복 사례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78040" y="6217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방산 입찰제안서 작성 시 '우선순위 매트릭스' 도입으로 납기 3일 전 완수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1051560"/>
            <a:ext cx="10469880" cy="0"/>
          </a:xfrm>
          <a:prstGeom prst="line">
            <a:avLst/>
          </a:prstGeom>
          <a:noFill/>
          <a:ln w="19050">
            <a:solidFill>
              <a:srgbClr val="1113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6355080"/>
            <a:ext cx="10469880" cy="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박수완 · 방위산업 사업운영 포트폴리오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34440" y="1463040"/>
            <a:ext cx="3291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1463040"/>
            <a:ext cx="91440" cy="4572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1783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문제 (Bottle-neck)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08760" y="21488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제안서 초안 마감 지연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508760" y="265176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팀원의 세부 의견을 반영하려다 제안서 분량이 방대해지고, 규격 검토와 원가 산출 간의 의견 차이로 초안 완성이 지연되는 위기 발생.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63040" y="5257800"/>
            <a:ext cx="2834640" cy="502920"/>
          </a:xfrm>
          <a:prstGeom prst="rect">
            <a:avLst/>
          </a:prstGeom>
          <a:solidFill>
            <a:srgbClr val="E4DFD2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5257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위기: 제출 기한 마감 5일 전 초안 미완성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18888" y="1463040"/>
            <a:ext cx="3291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18888" y="1463040"/>
            <a:ext cx="91440" cy="4572000"/>
          </a:xfrm>
          <a:prstGeom prst="rect">
            <a:avLst/>
          </a:prstGeom>
          <a:solidFill>
            <a:srgbClr val="1F3BE0"/>
          </a:solidFill>
          <a:ln w="12700">
            <a:solidFill>
              <a:srgbClr val="1F3B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3208" y="1783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조치 (Action)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93208" y="21488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매트릭스 &amp; 재분배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093208" y="265176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방사청 평가 배점이 가장 높은 ‘기술 규격’과 ‘원가 신뢰성’에 리소스의 70%를 집중하도록 역할을 재정의하고, 비핵심 양식 수정은 후순위화.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47488" y="5257800"/>
            <a:ext cx="2834640" cy="502920"/>
          </a:xfrm>
          <a:prstGeom prst="rect">
            <a:avLst/>
          </a:prstGeom>
          <a:solidFill>
            <a:srgbClr val="E4DFD2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5257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핵심 배점 영역 집중 + 역할별 전담 배치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403336" y="1463040"/>
            <a:ext cx="3291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03336" y="1463040"/>
            <a:ext cx="91440" cy="4572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77656" y="1783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및 교훈 (Outcome)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77656" y="21488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 3일 전 완성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8677656" y="265176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일정을 단축하여 잔여 3일 동안 최종 모의 시뮬레이션 및 교차 검증을 수행. 진정한 조율은 ‘명확한 기준을 통한 신속한 결단’임을 체득.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31936" y="5257800"/>
            <a:ext cx="2834640" cy="502920"/>
          </a:xfrm>
          <a:prstGeom prst="rect">
            <a:avLst/>
          </a:prstGeom>
          <a:solidFill>
            <a:srgbClr val="E4DFD2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31936" y="5257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납기 3일 단축 및 완결성 확보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1F3BE0"/>
          </a:solidFill>
          <a:ln w="12700">
            <a:solidFill>
              <a:srgbClr val="1F3B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3200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 rot="16200000">
            <a:off x="-1097280" y="3108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CREDENTIALS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6172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320040"/>
            <a:ext cx="10469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CERTIFICATES &amp; EDUCATION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548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공인 자격 및 학력 현황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78040" y="6217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공인 자격증 및 학력 마일스톤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1051560"/>
            <a:ext cx="10469880" cy="0"/>
          </a:xfrm>
          <a:prstGeom prst="line">
            <a:avLst/>
          </a:prstGeom>
          <a:noFill/>
          <a:ln w="19050">
            <a:solidFill>
              <a:srgbClr val="1113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6355080"/>
            <a:ext cx="10469880" cy="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박수완 · 방위산업 사업운영 포트폴리오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13258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CERTIFICATES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34440" y="1645920"/>
            <a:ext cx="5074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1828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국방원가관리사 1차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6304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한국방위산업진흥회 · 2026.07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0" y="1938528"/>
            <a:ext cx="1051560" cy="365760"/>
          </a:xfrm>
          <a:prstGeom prst="rect">
            <a:avLst/>
          </a:prstGeom>
          <a:solidFill>
            <a:srgbClr val="1F3BE0"/>
          </a:solidFill>
          <a:ln w="12700">
            <a:solidFill>
              <a:srgbClr val="1113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93852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합격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34440" y="2761488"/>
            <a:ext cx="5074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29443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생산 정보관리사 1급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463040" y="3264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한국생산성본부(KPC) · 2026.08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0" y="3054096"/>
            <a:ext cx="1051560" cy="365760"/>
          </a:xfrm>
          <a:prstGeom prst="rect">
            <a:avLst/>
          </a:prstGeom>
          <a:solidFill>
            <a:srgbClr val="11131A"/>
          </a:solidFill>
          <a:ln w="12700">
            <a:solidFill>
              <a:srgbClr val="1113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054096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합격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34440" y="3877056"/>
            <a:ext cx="5074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040" y="40599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재무빅데이터분석사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463040" y="437997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한국공인회계사회 · 2024.07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0" y="4169664"/>
            <a:ext cx="1051560" cy="365760"/>
          </a:xfrm>
          <a:prstGeom prst="rect">
            <a:avLst/>
          </a:prstGeom>
          <a:solidFill>
            <a:srgbClr val="11131A"/>
          </a:solidFill>
          <a:ln w="12700">
            <a:solidFill>
              <a:srgbClr val="1113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416966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합격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234440" y="4992624"/>
            <a:ext cx="5074920" cy="960120"/>
          </a:xfrm>
          <a:prstGeom prst="rect">
            <a:avLst/>
          </a:prstGeom>
          <a:solidFill>
            <a:srgbClr val="E4DFD2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63040" y="517550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제1종 보통 운전면허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463040" y="54955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경찰청 · 2017.02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0" y="5285232"/>
            <a:ext cx="1051560" cy="365760"/>
          </a:xfrm>
          <a:prstGeom prst="rect">
            <a:avLst/>
          </a:prstGeom>
          <a:solidFill>
            <a:srgbClr val="E4DFD2"/>
          </a:solidFill>
          <a:ln w="12700">
            <a:solidFill>
              <a:srgbClr val="1113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528523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29400" y="13258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EDUCATION &amp; MILITARY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29400" y="1645920"/>
            <a:ext cx="5074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1828800"/>
            <a:ext cx="4526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2017.03 — 2024.09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03720" y="21031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창원대학교 경영학과 졸업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03720" y="2514600"/>
            <a:ext cx="4526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학점: 3.5 / 4.5 (주간)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이수: 재무회계, 원가회계, 생산운영관리, 경영정보시스템(MIS)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629400" y="3977640"/>
            <a:ext cx="5074920" cy="2148840"/>
          </a:xfrm>
          <a:prstGeom prst="rect">
            <a:avLst/>
          </a:prstGeom>
          <a:solidFill>
            <a:srgbClr val="E4DFD2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03720" y="4160520"/>
            <a:ext cx="4526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2018.02 — 2019.10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03720" y="44348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육군 병장 만기전역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03720" y="4846320"/>
            <a:ext cx="4526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군필 · 병역 완료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D2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 복무 간 성실한 임무 수행 및 조직 협업 역량 체득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1F3BE0"/>
          </a:solidFill>
          <a:ln w="12700">
            <a:solidFill>
              <a:srgbClr val="1F3B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3200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 rot="16200000">
            <a:off x="-1097280" y="3108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 &amp; CONTACT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6172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320040"/>
            <a:ext cx="10469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FUTURE VISION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548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포부 및 연락처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78040" y="6217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준비된 신입 사업운영 담당자로서의 다짐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1051560"/>
            <a:ext cx="10469880" cy="0"/>
          </a:xfrm>
          <a:prstGeom prst="line">
            <a:avLst/>
          </a:prstGeom>
          <a:noFill/>
          <a:ln w="19050">
            <a:solidFill>
              <a:srgbClr val="1113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6355080"/>
            <a:ext cx="10469880" cy="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박수완 · 방위산업 사업운영 포트폴리오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34440" y="1371600"/>
            <a:ext cx="6355080" cy="4709160"/>
          </a:xfrm>
          <a:prstGeom prst="rect">
            <a:avLst/>
          </a:prstGeom>
          <a:solidFill>
            <a:srgbClr val="11131A"/>
          </a:solidFill>
          <a:ln w="12700">
            <a:solidFill>
              <a:srgbClr val="1113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169164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COMMITMENT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2057400"/>
            <a:ext cx="5623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"숫자의 의미를 스스로 설명할 수 있을 때까지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현장을 확인하고, 원가 리스크를 사전에 통제하겠습니다."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3291840"/>
            <a:ext cx="5623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방위력개선사업의 양산 및 전력화 단계에서 자재 흐름과 BOM의 일치를 철저히 감시하겠습니다. 견적 산출의 투명성을 확보하고 실행예산을 정밀 통제하여, 신규 수주와 양산 사업이 견고한 기업 수익성으로 직결되도록 뒷받침하는 핵심 사업운영 인재가 되겠습니다.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600200" y="5303520"/>
            <a:ext cx="56235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5486400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사업운영 지원자 박 수 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818120" y="1371600"/>
            <a:ext cx="388620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16916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INFORMATION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138160" y="2057400"/>
            <a:ext cx="3246120" cy="0"/>
          </a:xfrm>
          <a:prstGeom prst="line">
            <a:avLst/>
          </a:prstGeom>
          <a:noFill/>
          <a:ln w="25400">
            <a:solidFill>
              <a:srgbClr val="1113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233172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EMAIL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138160" y="25603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suw******@gmail.com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38160" y="320040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PHONE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38160" y="34290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010-****-6386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38160" y="406908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ADDRESS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138160" y="42976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 김해시 김해대로1765번길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38160" y="5029200"/>
            <a:ext cx="3246120" cy="685800"/>
          </a:xfrm>
          <a:prstGeom prst="rect">
            <a:avLst/>
          </a:prstGeom>
          <a:solidFill>
            <a:srgbClr val="E4DFD2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50292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경청과 분석으로 조직의 신뢰를 만듭니다.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2026-09-10T05:18:03Z</dcterms:created>
  <dcterms:modified xsi:type="dcterms:W3CDTF">2026-09-10T05:18:03Z</dcterms:modified>
</cp:coreProperties>
</file>